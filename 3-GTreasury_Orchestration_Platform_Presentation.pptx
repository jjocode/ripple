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3" y="18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E3356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0E3356"/>
                </a:solidFill>
                <a:latin typeface="+mn-lt"/>
              </a:rPr>
              <a:t>Sprint Capacity Allocation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Capacity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3FF-4794-8119-677864C31C0F}"/>
              </c:ext>
            </c:extLst>
          </c:dPt>
          <c:dPt>
            <c:idx val="1"/>
            <c:bubble3D val="0"/>
            <c:spPr>
              <a:solidFill>
                <a:srgbClr val="4F6D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3FF-4794-8119-677864C31C0F}"/>
              </c:ext>
            </c:extLst>
          </c:dPt>
          <c:dPt>
            <c:idx val="2"/>
            <c:bubble3D val="0"/>
            <c:spPr>
              <a:solidFill>
                <a:srgbClr val="D98B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3FF-4794-8119-677864C31C0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3FF-4794-8119-677864C31C0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3FF-4794-8119-677864C31C0F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3FF-4794-8119-677864C31C0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New Platform</c:v>
                </c:pt>
                <c:pt idx="1">
                  <c:v>Legacy KTLO</c:v>
                </c:pt>
                <c:pt idx="2">
                  <c:v>Interrupt Buffer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3FF-4794-8119-677864C31C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B122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7278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E33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33172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361188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107899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GTreasury — Next-Gen Data &amp; Workflow Orchestration Platform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FA7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33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83464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3886200"/>
            <a:ext cx="10515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E33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56032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FA7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83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8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GTREASURY  ·  ENGINEERING MANAGER CASE STUDY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33172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Next-Generation Data &amp; Workflow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 Platform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361188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8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path to an elastic, resilient, AI-augmented orchestration platform on AWS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John Jo •  October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23A5E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4206240"/>
            <a:ext cx="2377440" cy="2377440"/>
          </a:xfrm>
          <a:prstGeom prst="ellipse">
            <a:avLst/>
          </a:prstGeom>
          <a:solidFill>
            <a:srgbClr val="D98B2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1078992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85216" y="1271016"/>
            <a:ext cx="512064" cy="51206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85216" y="12710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56" dirty="0"/>
          </a:p>
        </p:txBody>
      </p:sp>
      <p:sp>
        <p:nvSpPr>
          <p:cNvPr id="5" name="Text 3"/>
          <p:cNvSpPr txBox="1"/>
          <p:nvPr/>
        </p:nvSpPr>
        <p:spPr>
          <a:xfrm>
            <a:off x="1261872" y="123444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Opportunity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52704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GTreasury's scheduled-jobs model needs to become true data &amp; workflow orchestration.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85216" y="2185416"/>
            <a:ext cx="512064" cy="51206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85216" y="21854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56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214884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 &amp; Architecture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44144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two-phase build — simple MVP to enterprise platform — plus a new AI agentic automation layer.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85216" y="3099816"/>
            <a:ext cx="512064" cy="51206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85216" y="30998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56" dirty="0"/>
          </a:p>
        </p:txBody>
      </p:sp>
      <p:sp>
        <p:nvSpPr>
          <p:cNvPr id="13" name="Text 11"/>
          <p:cNvSpPr txBox="1"/>
          <p:nvPr/>
        </p:nvSpPr>
        <p:spPr>
          <a:xfrm>
            <a:off x="1261872" y="306324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Excellence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35584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Scalability, availability, resiliency, observability, and disaster recovery.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" y="4014216"/>
            <a:ext cx="512064" cy="51206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85216" y="40142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56" dirty="0"/>
          </a:p>
        </p:txBody>
      </p:sp>
      <p:sp>
        <p:nvSpPr>
          <p:cNvPr id="17" name="Text 15"/>
          <p:cNvSpPr txBox="1"/>
          <p:nvPr/>
        </p:nvSpPr>
        <p:spPr>
          <a:xfrm>
            <a:off x="1261872" y="397764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Excellence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427024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Quality, incident management, and a high-bar development lifecycle.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85216" y="4928616"/>
            <a:ext cx="512064" cy="51206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85216" y="49286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56" dirty="0"/>
          </a:p>
        </p:txBody>
      </p:sp>
      <p:sp>
        <p:nvSpPr>
          <p:cNvPr id="21" name="Text 19"/>
          <p:cNvSpPr txBox="1"/>
          <p:nvPr/>
        </p:nvSpPr>
        <p:spPr>
          <a:xfrm>
            <a:off x="1261872" y="489204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&amp; Delivery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518464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planning, team structure, milestones, and how we show progress.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589520" y="1234440"/>
            <a:ext cx="4069080" cy="1371600"/>
          </a:xfrm>
          <a:prstGeom prst="roundRect">
            <a:avLst>
              <a:gd name="adj" fmla="val 5333"/>
            </a:avLst>
          </a:prstGeom>
          <a:solidFill>
            <a:srgbClr val="EAF1F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818120" y="123444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E3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E3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single-instance MVP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589520" y="2788920"/>
            <a:ext cx="4069080" cy="1371600"/>
          </a:xfrm>
          <a:prstGeom prst="roundRect">
            <a:avLst>
              <a:gd name="adj" fmla="val 5333"/>
            </a:avLst>
          </a:prstGeom>
          <a:solidFill>
            <a:srgbClr val="D7E6E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818120" y="278892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E3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E3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Enterprise-grade, elastic, multi-region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589520" y="4343400"/>
            <a:ext cx="4069080" cy="1371600"/>
          </a:xfrm>
          <a:prstGeom prst="roundRect">
            <a:avLst>
              <a:gd name="adj" fmla="val 5333"/>
            </a:avLst>
          </a:prstGeom>
          <a:solidFill>
            <a:srgbClr val="D98B2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818120" y="434340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AI Agentic Layer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Ops/Recovery &amp; Scaffolding copilots</a:t>
            </a:r>
            <a:endParaRPr lang="en-US" sz="13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FA7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48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1078992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Pane of Glass, Built on Thousands of Scheduled Jobs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430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GTreasury aggregates data across every bank and ERP a customer uses — imagine 100+ global bank accounts — into a single view. Today that's powered by scheduled jobs that pull, transform, and push data. As the business scales, that model is showing its age.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9496" y="2368296"/>
            <a:ext cx="512064" cy="5120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39496" y="2368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56" dirty="0"/>
          </a:p>
        </p:txBody>
      </p:sp>
      <p:sp>
        <p:nvSpPr>
          <p:cNvPr id="7" name="Text 5"/>
          <p:cNvSpPr txBox="1"/>
          <p:nvPr/>
        </p:nvSpPr>
        <p:spPr>
          <a:xfrm>
            <a:off x="1216152" y="233172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timing out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16152" y="2624328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failures with no automatic self-healing.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39496" y="3511296"/>
            <a:ext cx="512064" cy="5120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9496" y="3511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56" dirty="0"/>
          </a:p>
        </p:txBody>
      </p:sp>
      <p:sp>
        <p:nvSpPr>
          <p:cNvPr id="11" name="Text 9"/>
          <p:cNvSpPr txBox="1"/>
          <p:nvPr/>
        </p:nvSpPr>
        <p:spPr>
          <a:xfrm>
            <a:off x="1216152" y="347472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Connectivity issues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16152" y="3767328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Bank/ERP endpoints are flaky by nature, at global scale.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39496" y="4654296"/>
            <a:ext cx="512064" cy="5120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9496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56" dirty="0"/>
          </a:p>
        </p:txBody>
      </p:sp>
      <p:sp>
        <p:nvSpPr>
          <p:cNvPr id="15" name="Text 13"/>
          <p:cNvSpPr txBox="1"/>
          <p:nvPr/>
        </p:nvSpPr>
        <p:spPr>
          <a:xfrm>
            <a:off x="1216152" y="461772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Corrupt or erroneous data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16152" y="4910328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bad record can block an entire batch.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498080" y="1143000"/>
            <a:ext cx="4206240" cy="5074920"/>
          </a:xfrm>
          <a:prstGeom prst="roundRect">
            <a:avLst>
              <a:gd name="adj" fmla="val 1739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726680" y="1325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Personas, One Platform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18288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E3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</a:t>
            </a: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jobs to complete — and a way to act when they don't.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726680" y="267004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E3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Services: </a:t>
            </a: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Configures unique workflows at onboarding.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351129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E3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Support: </a:t>
            </a: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customers and Platform Ops today.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726680" y="4352544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E3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Operations: </a:t>
            </a: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durability and advanced recovery.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726680" y="519379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E3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Engineering: </a:t>
            </a: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platform and the components on 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FA7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48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1078992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Vision: True Data &amp; Workflow Orchestration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453896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 tolerance, scalability, resiliency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37944"/>
            <a:ext cx="507492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explicit top priority — scaling elastically with load, not failing silently.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32588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0" y="1453896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catalog of composable components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837944"/>
            <a:ext cx="507492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and compiled, contributed by any GTreasury engineering team.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9319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" y="4059936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Self-service recovery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443984"/>
            <a:ext cx="507492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and Customer Support can recover from failure without Engineering.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9319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0800" y="4059936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Continuously improving developer productivity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4443984"/>
            <a:ext cx="507492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 and velocity are not a trade-off — both matter.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FA7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48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1078992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Strategy: Deliver Incrementally, Never Throw Away Work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515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walking-skeleton approach: ship the real workflow/component model on the smallest reasonable footprint first, validate it with real customers, then harden the same model — not a different one — into the enterprise design.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0E7C86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2402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87752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Simple, Single-Instance MVP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7472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on one EC2 instance. Prove the DAG/component model with real customers in weeks.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950208" y="342900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06240" y="196596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4F6D8C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480560" y="22402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587752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Enterprise-Grade Platform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347472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Functions, Lambda/Fargate catalog, multi-region. Elastic, resilient, self-service.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653528" y="342900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09560" y="196596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D98B2B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183880" y="22402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AGENTIC LAYER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183880" y="2587752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AI-Augmented Automation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347472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Agents triage failures and scaffold components — added once Phase 2 is grounded in real history.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FA7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48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1078992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Architecture: Simple, Single-Instance MVP</a:t>
            </a:r>
            <a:endParaRPr lang="en-US" sz="2600" dirty="0"/>
          </a:p>
        </p:txBody>
      </p:sp>
      <p:pic>
        <p:nvPicPr>
          <p:cNvPr id="4" name="Image 0" descr="/home/claude/assets/phase1_simple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1222" y="1051560"/>
            <a:ext cx="2904116" cy="5349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675120" y="1188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Validate, Not to Throw Away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675120" y="1691640"/>
            <a:ext cx="502920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on a single EC2 instance — DAGs of reusable operators, the same model Phase 2 scales up.</a:t>
            </a:r>
            <a:endParaRPr lang="en-US" sz="1300" dirty="0"/>
          </a:p>
          <a:p>
            <a:pPr marL="203200" indent="-2032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Transfer Family for managed SFTP; Secrets Manager for bank/ERP credentials from day one.</a:t>
            </a:r>
            <a:endParaRPr lang="en-US" sz="1300" dirty="0"/>
          </a:p>
          <a:p>
            <a:pPr marL="203200" indent="-2032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(versioned) for every file; RDS PostgreSQL for metadata and job history.</a:t>
            </a:r>
            <a:endParaRPr lang="en-US" sz="1300" dirty="0"/>
          </a:p>
          <a:p>
            <a:pPr marL="203200" indent="-2032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+ SNS/SES from day one — observability and notifications are never deferred.</a:t>
            </a:r>
            <a:endParaRPr lang="en-US" sz="1300" dirty="0"/>
          </a:p>
          <a:p>
            <a:pPr marL="203200" indent="-2032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limited: single AZ, no cross-region DR, manual recovery only — all solved in Phase 2.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FA7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48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1078992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Architecture: Enterprise-Grade Platform</a:t>
            </a:r>
            <a:endParaRPr lang="en-US" sz="2600" dirty="0"/>
          </a:p>
        </p:txBody>
      </p:sp>
      <p:pic>
        <p:nvPicPr>
          <p:cNvPr id="4" name="Image 0" descr="/home/claude/assets/phase2_enterprise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922" y="1005840"/>
            <a:ext cx="4297116" cy="5394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589520" y="1188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Elastic, Governed, Self-Service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1691640"/>
            <a:ext cx="4114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Step Functions is the orchestration control plane — serverless, versioned, Redrive-based recovery.</a:t>
            </a:r>
            <a:endParaRPr lang="en-US" sz="1250" dirty="0"/>
          </a:p>
          <a:p>
            <a:pPr marL="203200" indent="-2032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Catalog: Lambda (scripted) + Fargate (compiled), governed by a CI/CD certification pipeline.</a:t>
            </a:r>
            <a:endParaRPr lang="en-US" sz="1250" dirty="0"/>
          </a:p>
          <a:p>
            <a:pPr marL="203200" indent="-2032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+ DynamoDB + ElastiCache + S3, each used for what it's best at — relational, high-volume state, caching, data lake.</a:t>
            </a:r>
            <a:endParaRPr lang="en-US" sz="1250" dirty="0"/>
          </a:p>
          <a:p>
            <a:pPr marL="203200" indent="-2032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Multi-AZ, multi-region, self-service recovery portal for customers and Customer Support.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FA7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48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8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 · NEW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1078992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Agentic Automation Layer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adds an agent that reasons over failures and acts — within guardrails — instead of only giving a human a button to click.</a:t>
            </a:r>
            <a:endParaRPr lang="en-US" sz="1350" dirty="0"/>
          </a:p>
        </p:txBody>
      </p:sp>
      <p:pic>
        <p:nvPicPr>
          <p:cNvPr id="5" name="Image 0" descr="/home/claude/assets/phase2_agentic_autom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970" y="1508760"/>
            <a:ext cx="5173581" cy="3246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489204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" y="502005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98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 / Recovery Copilot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5404104"/>
            <a:ext cx="32461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on failure; grounded on runbooks &amp; postmortems via a Bedrock Knowledge Base.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489204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526280" y="502005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Tiered Autonomy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5404104"/>
            <a:ext cx="32461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actions auto-execute (redrive, notify); high-risk actions need one-click human approval.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183880" y="489204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366760" y="502005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F6D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Scaffolding Copilot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8366760" y="5404104"/>
            <a:ext cx="32461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contract-compliant component skeleton + tests as a draft PR for any contributing team.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FA7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48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1078992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Technology Decisions — Chosen vs. Considered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0934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Functions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848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F6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Airflow (MWAA) / Temporal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2316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elastic scaling + native Redrive for self-service recovery.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1887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26280" y="13258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COMPUTE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160934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Lambda + Fargate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0848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F6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EKS for everything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42316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runtime per workload shape, zero fleet operations.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83880" y="11887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66760" y="13258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160934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Aurora + DynamoDB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0848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F6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one store for everything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42316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control plane and high-volume state, each at its best.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7490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85800" y="38862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PLATFORM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416966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Bedrock Agents + Guardrails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6451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F6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self-hosted LangChain stack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498348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reasoning/tool-calling inside our existing AWS security boundary.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7490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526280" y="38862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526280" y="416966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 standby (Tier 1/2)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6451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F6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pilot light / active-active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498348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Single-digit-minute RTO without full duplicate production cost.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83880" y="37490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366760" y="38862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GOVERNANCE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366760" y="416966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IaC + CI/CD certification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366760" y="46451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F6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manual (“ClickOps”)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498348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Reproducible, and the only way to safely govern multi-team contributions.</a:t>
            </a:r>
            <a:endParaRPr lang="en-US" sz="115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FA7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48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1078992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System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39496" y="1271016"/>
            <a:ext cx="512064" cy="51206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39496" y="12710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56" dirty="0"/>
          </a:p>
        </p:txBody>
      </p:sp>
      <p:sp>
        <p:nvSpPr>
          <p:cNvPr id="6" name="Text 4"/>
          <p:cNvSpPr txBox="1"/>
          <p:nvPr/>
        </p:nvSpPr>
        <p:spPr>
          <a:xfrm>
            <a:off x="1216152" y="12344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16152" y="152704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Schedule, file arrival, webhook, or manual re-run.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9496" y="2414016"/>
            <a:ext cx="512064" cy="51206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9496" y="24140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56" dirty="0"/>
          </a:p>
        </p:txBody>
      </p:sp>
      <p:sp>
        <p:nvSpPr>
          <p:cNvPr id="10" name="Text 8"/>
          <p:cNvSpPr txBox="1"/>
          <p:nvPr/>
        </p:nvSpPr>
        <p:spPr>
          <a:xfrm>
            <a:off x="1216152" y="23774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 &amp; start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16152" y="267004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starts the Step Functions execution.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39496" y="3557016"/>
            <a:ext cx="512064" cy="51206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39496" y="35570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56" dirty="0"/>
          </a:p>
        </p:txBody>
      </p:sp>
      <p:sp>
        <p:nvSpPr>
          <p:cNvPr id="14" name="Text 12"/>
          <p:cNvSpPr txBox="1"/>
          <p:nvPr/>
        </p:nvSpPr>
        <p:spPr>
          <a:xfrm>
            <a:off x="1216152" y="35204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 the DAG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16152" y="381304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components run with per-step retry/catch policy.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08776" y="1271016"/>
            <a:ext cx="512064" cy="512064"/>
          </a:xfrm>
          <a:prstGeom prst="ellipse">
            <a:avLst/>
          </a:prstGeom>
          <a:solidFill>
            <a:srgbClr val="D98B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08776" y="12710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56" dirty="0"/>
          </a:p>
        </p:txBody>
      </p:sp>
      <p:sp>
        <p:nvSpPr>
          <p:cNvPr id="18" name="Text 16"/>
          <p:cNvSpPr txBox="1"/>
          <p:nvPr/>
        </p:nvSpPr>
        <p:spPr>
          <a:xfrm>
            <a:off x="6885432" y="12344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&amp; transform data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85432" y="152704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Family / API Gateway, business rules, write to S3/Aurora/DynamoDB.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08776" y="2414016"/>
            <a:ext cx="512064" cy="512064"/>
          </a:xfrm>
          <a:prstGeom prst="ellipse">
            <a:avLst/>
          </a:prstGeom>
          <a:solidFill>
            <a:srgbClr val="D98B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08776" y="24140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56" dirty="0"/>
          </a:p>
        </p:txBody>
      </p:sp>
      <p:sp>
        <p:nvSpPr>
          <p:cNvPr id="22" name="Text 20"/>
          <p:cNvSpPr txBox="1"/>
          <p:nvPr/>
        </p:nvSpPr>
        <p:spPr>
          <a:xfrm>
            <a:off x="6885432" y="23774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Emit events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85432" y="267004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logs, and traces correlated by a single execution ID.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08776" y="3557016"/>
            <a:ext cx="512064" cy="512064"/>
          </a:xfrm>
          <a:prstGeom prst="ellipse">
            <a:avLst/>
          </a:prstGeom>
          <a:solidFill>
            <a:srgbClr val="D98B2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08776" y="35570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56" dirty="0"/>
          </a:p>
        </p:txBody>
      </p:sp>
      <p:sp>
        <p:nvSpPr>
          <p:cNvPr id="26" name="Text 24"/>
          <p:cNvSpPr txBox="1"/>
          <p:nvPr/>
        </p:nvSpPr>
        <p:spPr>
          <a:xfrm>
            <a:off x="6885432" y="35204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failure — agent triages first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85432" y="381304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Ops Copilot auto-resolves or proposes a fix; unresolved items still reach a human via the self-service portal.</a:t>
            </a:r>
            <a:endParaRPr lang="en-US" sz="12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FA7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48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1078992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 &amp; Availability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4592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Serverless-first compute scales automatically — no fleet to pre-provision for month-end treasury close.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decouples triggers from execution; tenant-aware queues prevent one customer's volume from starving another's.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proves 3x its peak load in staging before it is certified into the catalog.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11887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6D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Availability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164592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by default: Aurora Multi-AZ, Fargate across ≥2 AZs, per-AZ NAT gateways.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health checks + Global Accelerator shed a failing AZ/region in seconds, not minutes.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by default — ECS/Fargate and EC2 auto-recovery replace unhealthy tasks without paging a human.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43434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" y="4453128"/>
            <a:ext cx="23317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99.95%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12648" y="5394960"/>
            <a:ext cx="2386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F6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target, control plane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43434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383280" y="4453128"/>
            <a:ext cx="23317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355848" y="5394960"/>
            <a:ext cx="2386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F6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load headroom before certification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43434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309360" y="4453128"/>
            <a:ext cx="23317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6D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≥2 AZs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281928" y="5394960"/>
            <a:ext cx="2386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F6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spread for every stateful component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15400" y="43434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052560" y="4453128"/>
            <a:ext cx="23317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6D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Seconds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9025128" y="5394960"/>
            <a:ext cx="2386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F6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time via Global Accelerator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FA7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48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1078992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Resiliency &amp; Observability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39496" y="1271016"/>
            <a:ext cx="512064" cy="5120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39496" y="12710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56" dirty="0"/>
          </a:p>
        </p:txBody>
      </p:sp>
      <p:sp>
        <p:nvSpPr>
          <p:cNvPr id="6" name="Text 4"/>
          <p:cNvSpPr txBox="1"/>
          <p:nvPr/>
        </p:nvSpPr>
        <p:spPr>
          <a:xfrm>
            <a:off x="1216152" y="12344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Retry + Catch, by default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16152" y="152704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workflow step declares backoff and a fallback state.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9496" y="2414016"/>
            <a:ext cx="512064" cy="5120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9496" y="24140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56" dirty="0"/>
          </a:p>
        </p:txBody>
      </p:sp>
      <p:sp>
        <p:nvSpPr>
          <p:cNvPr id="10" name="Text 8"/>
          <p:cNvSpPr txBox="1"/>
          <p:nvPr/>
        </p:nvSpPr>
        <p:spPr>
          <a:xfrm>
            <a:off x="1216152" y="23774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DLQs + idempotency keys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16152" y="267004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 messages are isolated; retries are always safe to run twice.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39496" y="3557016"/>
            <a:ext cx="512064" cy="5120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39496" y="35570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56" dirty="0"/>
          </a:p>
        </p:txBody>
      </p:sp>
      <p:sp>
        <p:nvSpPr>
          <p:cNvPr id="14" name="Text 12"/>
          <p:cNvSpPr txBox="1"/>
          <p:nvPr/>
        </p:nvSpPr>
        <p:spPr>
          <a:xfrm>
            <a:off x="1216152" y="35204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 breakers &amp; bulkheads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16152" y="381304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struggling bank or bad actor can't exhaust shared capacity.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1234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observability pillars, one execution ID: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178308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— </a:t>
            </a: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+ Managed Grafana, persona-specific dashboards.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246888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— </a:t>
            </a: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JSON, searchable in OpenSearch across a failed run.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315468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— </a:t>
            </a: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end-to-end across every hop, call, and retry.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420624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355080" y="433425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Chaos, on a schedule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4718304"/>
            <a:ext cx="50292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AWS Fault Injection Simulator game days kill an AZ, throttle Lambda, and force an Aurora failover — so resiliency claims are exercised, not assumed.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FA7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48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1078992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Disaster Recovery: Multi-Region Warm Standby</a:t>
            </a:r>
            <a:endParaRPr lang="en-US" sz="2600" dirty="0"/>
          </a:p>
        </p:txBody>
      </p:sp>
      <p:pic>
        <p:nvPicPr>
          <p:cNvPr id="4" name="Image 0" descr="/home/claude/assets/phase2_dr_multireg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848" y="1051560"/>
            <a:ext cx="4017183" cy="46634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0" y="10515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Global Database and DynamoDB Global Tables replicate continuously; infrastructure is deployed to both regions by the same pipeline, so the DR region is always warm — and tested quarterly, not just documented.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2240280"/>
          <a:ext cx="4846320" cy="20116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3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3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— critical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15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— standard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15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 hour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 — internal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24 hrs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4 hours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858000" y="4526280"/>
            <a:ext cx="4846320" cy="1965960"/>
          </a:xfrm>
          <a:prstGeom prst="roundRect">
            <a:avLst>
              <a:gd name="adj" fmla="val 3721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7040880" y="46542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warm standby</a:t>
            </a:r>
            <a:endParaRPr lang="en-US" sz="1450" dirty="0"/>
          </a:p>
        </p:txBody>
      </p:sp>
      <p:sp>
        <p:nvSpPr>
          <p:cNvPr id="9" name="Text 5"/>
          <p:cNvSpPr txBox="1"/>
          <p:nvPr/>
        </p:nvSpPr>
        <p:spPr>
          <a:xfrm>
            <a:off x="7040880" y="5038344"/>
            <a:ext cx="448056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RTO without paying for full duplicate production capacity at all times — the right balance for time-sensitive, bank-cutoff-driven jobs.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FA7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48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1078992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Principles &amp; KPIs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45920"/>
            <a:ext cx="5943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by design — Well-Architected reviews at every milestone, not once at the end.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SLOs and error budgets decide the features-vs-reliability trade-off, not debate.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Blameless postmortems: every incident produces action items, never blame.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tooling: the third time Ops solves a problem by hand, it becomes automation.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 observability: instrumentation is part of the definition of done.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766560" y="1188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That Matter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0" y="164592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903720" y="1755648"/>
            <a:ext cx="2103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99.95%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876288" y="2743200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F6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target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326880" y="164592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464040" y="1755648"/>
            <a:ext cx="2103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15 min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9436608" y="2743200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F6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target, Tier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333756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903720" y="3447288"/>
            <a:ext cx="2103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8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KPI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876288" y="4434840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F6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incidents resolved by the AI agent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26880" y="333756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464040" y="3447288"/>
            <a:ext cx="2103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6D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DORA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436608" y="4434840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F6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frequency &amp; change failure rate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self-service recovery rate, error-budget consumption, alert-to-action ratio, DR test cadence, cost per tenant.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FA7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48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EXCELLENCE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1078992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Excellence Practices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6400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testing pyramid, plus contract tests for the Component Contract itself.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&amp; security scanning gate every merge and every catalog certification.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delivery: canary/blue-green for both workflows and components.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RFC/design review before any new pattern; ADRs capture the “why” long-term.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300"/>
              </a:spcAft>
              <a:buSzPct val="100000"/>
              <a:buChar char="●"/>
            </a:pPr>
            <a:r>
              <a:rPr lang="en-US" sz="13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tech-debt allocation (~15–20% of sprint capacity), not an afterthought.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269480" y="1234440"/>
            <a:ext cx="4434840" cy="4480560"/>
          </a:xfrm>
          <a:prstGeom prst="roundRect">
            <a:avLst>
              <a:gd name="adj" fmla="val 1649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452360" y="136245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98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AI-Assisted, Human-Reviewed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452360" y="1746504"/>
            <a:ext cx="4069080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Component Scaffolding Copilot generates a new component's handler, schema, tests, and IAM stub as a draft pull request. Every merge still goes through the same human code review and CI gates as any other change — the agent raises the floor on starting quality, it never bypasses review.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FA7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48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DELIVERY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1078992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Planning &amp; Team (Illustrative: 8 Engineers)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143000"/>
          <a:ext cx="51206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0" y="11887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Composition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669280" y="16916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E3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pod (5–6 engineers) — </a:t>
            </a: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new orchestration build: Step Functions, catalog, CI/CD, observability.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26060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E3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Legacy/KTLO pod (2–3, rotating 4–6 wks) — </a:t>
            </a: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today's platform stable; feeds lessons back into the new design.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35204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E3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SRE/DevOps engineer (1, floats) — </a:t>
            </a: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CI/CD, IaC, and observability across both platforms.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669280" y="44348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E3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layer (1–2 from Platform pod, later) — </a:t>
            </a: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 up once the catalog is live — not a new permanent sub-team.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54406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is a hypothesis, re-baselined at every milestone — not a one-time estimate.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FA7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48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DELIVERY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1078992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Roadmap: M0 → M7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72184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472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3441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&amp; spike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783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F6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wks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42316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2660904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660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5328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MVP live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971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F6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wks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61188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849624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3849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7216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Dual-run &amp; validation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160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F6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wks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80060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5038344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5038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9103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catalog + CI/CD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349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F6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wks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123444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55080" y="1472184"/>
            <a:ext cx="566928" cy="566928"/>
          </a:xfrm>
          <a:prstGeom prst="ellipse">
            <a:avLst/>
          </a:prstGeom>
          <a:solidFill>
            <a:srgbClr val="D98B2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55080" y="1472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13441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hardening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1783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F6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wks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242316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55080" y="2660904"/>
            <a:ext cx="566928" cy="566928"/>
          </a:xfrm>
          <a:prstGeom prst="ellipse">
            <a:avLst/>
          </a:prstGeom>
          <a:solidFill>
            <a:srgbClr val="D98B2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55080" y="2660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086600" y="25328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Multi-region DR + portal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086600" y="2971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F6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wks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72200" y="361188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55080" y="3849624"/>
            <a:ext cx="566928" cy="566928"/>
          </a:xfrm>
          <a:prstGeom prst="ellipse">
            <a:avLst/>
          </a:prstGeom>
          <a:solidFill>
            <a:srgbClr val="D98B2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355080" y="3849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M6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7086600" y="37216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agentic automation layer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086600" y="4160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F6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wks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172200" y="480060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55080" y="5038344"/>
            <a:ext cx="566928" cy="566928"/>
          </a:xfrm>
          <a:prstGeom prst="ellipse">
            <a:avLst/>
          </a:prstGeom>
          <a:solidFill>
            <a:srgbClr val="D98B2B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355080" y="5038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M7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7086600" y="49103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Progressive migration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7086600" y="5349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F6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15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FA7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48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DELIVERY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92608"/>
            <a:ext cx="1078992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Showing Progress — and Why This Works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Show Progress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45920"/>
            <a:ext cx="5760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metric sets, always visible: legacy stability and new-platform adoption.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Working-software demos every sprint, on real pilot data — never mockups.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before/after evidence as workflows migrate (MTTR, self-service wins).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Now/Next/Later roadmap stakeholders can see for themselves, reviewed monthly.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Architecture Wins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0" y="164592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766560" y="17739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throwaway work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2157984"/>
            <a:ext cx="4754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1 contract and primitive carries forward into Phase 2 unchanged.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0" y="301752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766560" y="31455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98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Guardrailed automation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3529584"/>
            <a:ext cx="4754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scale and AI agents operate inside explicit, auditable boundaries.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0" y="438912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0B122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766560" y="45171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3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Self-service by design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4901184"/>
            <a:ext cx="4754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and component contribution both route around Engineering as a bottleneck.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FA7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56032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6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architecture analysis, technology rationale, and Q&amp;A detail available in the accompanying document.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Jo  •  jjodev@gmail.com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23A5E"/>
          </a:solidFill>
          <a:ln/>
        </p:spPr>
      </p:sp>
      <p:sp>
        <p:nvSpPr>
          <p:cNvPr id="6" name="Shape 4"/>
          <p:cNvSpPr/>
          <p:nvPr/>
        </p:nvSpPr>
        <p:spPr>
          <a:xfrm>
            <a:off x="10881360" y="4206240"/>
            <a:ext cx="2377440" cy="2377440"/>
          </a:xfrm>
          <a:prstGeom prst="ellipse">
            <a:avLst/>
          </a:prstGeom>
          <a:solidFill>
            <a:srgbClr val="D98B2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GTreasuryOrchestration">
  <a:themeElements>
    <a:clrScheme name="GTreasuryOrchestration">
      <a:dk1>
        <a:srgbClr val="0B1220"/>
      </a:dk1>
      <a:lt1>
        <a:srgbClr val="FFFFFF"/>
      </a:lt1>
      <a:dk2>
        <a:srgbClr val="0E3356"/>
      </a:dk2>
      <a:lt2>
        <a:srgbClr val="EAF1F8"/>
      </a:lt2>
      <a:accent1>
        <a:srgbClr val="0E7C86"/>
      </a:accent1>
      <a:accent2>
        <a:srgbClr val="D98B2B"/>
      </a:accent2>
      <a:accent3>
        <a:srgbClr val="4F6D8C"/>
      </a:accent3>
      <a:accent4>
        <a:srgbClr val="8FA7BF"/>
      </a:accent4>
      <a:accent5>
        <a:srgbClr val="2E9E79"/>
      </a:accent5>
      <a:accent6>
        <a:srgbClr val="C0392B"/>
      </a:accent6>
      <a:hlink>
        <a:srgbClr val="0E7C86"/>
      </a:hlink>
      <a:folHlink>
        <a:srgbClr val="4F6D8C"/>
      </a:folHlink>
    </a:clrScheme>
    <a:fontScheme name="GTreasuryOrchestratio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2051</Words>
  <Application>Microsoft Office PowerPoint</Application>
  <PresentationFormat>Widescreen</PresentationFormat>
  <Paragraphs>309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GTreasuryOrchestration</vt:lpstr>
      <vt:lpstr>Next-Generation Data &amp; Workflow Orchestration Platform</vt:lpstr>
      <vt:lpstr>Agenda</vt:lpstr>
      <vt:lpstr>One Pane of Glass, Built on Thousands of Scheduled Jobs</vt:lpstr>
      <vt:lpstr>The Vision: True Data &amp; Workflow Orchestration</vt:lpstr>
      <vt:lpstr>Strategy: Deliver Incrementally, Never Throw Away Work</vt:lpstr>
      <vt:lpstr>Phase 1 Architecture: Simple, Single-Instance MVP</vt:lpstr>
      <vt:lpstr>Phase 2 Architecture: Enterprise-Grade Platform</vt:lpstr>
      <vt:lpstr>AI Agentic Automation Layer</vt:lpstr>
      <vt:lpstr>Key Technology Decisions — Chosen vs. Considered</vt:lpstr>
      <vt:lpstr>End-to-End System Flow</vt:lpstr>
      <vt:lpstr>Scalability &amp; Availability</vt:lpstr>
      <vt:lpstr>Resiliency &amp; Observability</vt:lpstr>
      <vt:lpstr>Disaster Recovery: Multi-Region Warm Standby</vt:lpstr>
      <vt:lpstr>Principles &amp; KPIs</vt:lpstr>
      <vt:lpstr>Engineering Excellence Practices</vt:lpstr>
      <vt:lpstr>Capacity Planning &amp; Team (Illustrative: 8 Engineers)</vt:lpstr>
      <vt:lpstr>Delivery Roadmap: M0 → M7</vt:lpstr>
      <vt:lpstr>Showing Progress — and Why This Works</vt:lpstr>
      <vt:lpstr>Questions &amp; Discussion</vt:lpstr>
    </vt:vector>
  </TitlesOfParts>
  <Company>GTreasury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GTreasury Next-Gen Orchestration Platform</dc:title>
  <dc:subject>PptxGenJS Presentation</dc:subject>
  <dc:creator>John</dc:creator>
  <cp:lastModifiedBy>John H. Jo</cp:lastModifiedBy>
  <cp:revision>2</cp:revision>
  <dcterms:created xsi:type="dcterms:W3CDTF">2026-10-02T01:48:56Z</dcterms:created>
  <dcterms:modified xsi:type="dcterms:W3CDTF">2026-10-02T02:50:10Z</dcterms:modified>
</cp:coreProperties>
</file>